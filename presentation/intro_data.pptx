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  <p:sldId id="264" r:id="rId9"/>
    <p:sldId id="265" r:id="rId10"/>
    <p:sldId id="266" r:id="rId11"/>
    <p:sldId id="268" r:id="rId12"/>
    <p:sldId id="267" r:id="rId13"/>
    <p:sldId id="271" r:id="rId14"/>
    <p:sldId id="277" r:id="rId15"/>
    <p:sldId id="269" r:id="rId16"/>
    <p:sldId id="273" r:id="rId17"/>
    <p:sldId id="270" r:id="rId18"/>
    <p:sldId id="272" r:id="rId19"/>
    <p:sldId id="274" r:id="rId20"/>
    <p:sldId id="275" r:id="rId21"/>
    <p:sldId id="276" r:id="rId22"/>
    <p:sldId id="26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15"/>
  </p:normalViewPr>
  <p:slideViewPr>
    <p:cSldViewPr snapToGrid="0" snapToObjects="1">
      <p:cViewPr varScale="1">
        <p:scale>
          <a:sx n="90" d="100"/>
          <a:sy n="90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1E627-ADB6-15A2-718C-B155520E2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C387E-A36F-04A3-937C-A6E42B994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343A1-F602-9A61-22D5-0141A836E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55B0E-6789-D9DE-4FBD-D0CE6BF1B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10813-B2F4-073F-854E-812008DC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8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F0C9-F626-D899-CAFC-B743560F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EB85-9801-494D-C092-6FEC50D03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19F96-5E64-E096-DF7F-23A2CB7E5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DA179-582F-DA49-D1D8-2FA8C231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97DBF-2929-9F3D-783B-4C48A8BD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2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D36D-A93E-0045-8483-A4D6B1578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3DBB6-3A98-0F37-127F-7920C3805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35597-ECC6-5E9A-85BD-5EAF7F87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F175-1AF5-E851-C292-6895C5AF4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ED058-1E59-31C7-251D-15A1025C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6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893A-1448-29EA-D131-6DD46484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1A356-98DD-7F41-A83C-0DD6C7D76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B3A0E-ED61-2E21-1FC4-8B9FC9761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9A560-82B8-8750-6D5A-0F2996DCB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76526-DEAB-AB35-CEC3-C30EC451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2AC8B-B411-7C1F-91B7-077D2409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9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1A9F-94CC-1430-3A6F-EFA217835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1509-39EF-B047-C19F-E49434DAF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FD946-3038-AA1B-7F87-15FDCC81F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B9CDC-1433-7EA1-9DA6-816FC8D94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079FD-38FA-7EFC-72F3-C0DBF7B4D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964F82-65B8-3CC6-B205-896FE777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19605-FB12-EE42-8C1E-6EF7EB3C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8C2B1-5094-9566-0107-7F307824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9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23BE-58A3-6AD5-734C-2B42A68F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EBA0E-B928-1FF0-D7EC-90E18F6D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04BC7-9766-948D-7CD1-533D7DC40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89E8D-3DAF-354D-5A25-95FBF092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41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E6C40A-75DC-852B-3460-465612DC7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ABF34-D9AB-AEDC-FF5E-F7488A8D8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F2C2E-D2D6-432B-D49E-4DEC5C24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52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9923-F192-CFD0-B48C-339E99C7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947A3-C267-064D-BA80-19A4F2EE2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FE808-0F36-2260-A59E-239C3A83F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763B1-71CB-D973-35E6-DE950D7A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7CE3C-2A04-592D-5385-7C8F5120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5E469-D534-75C3-EA45-EAE7D456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32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FC39-8EC7-B392-1920-DA528DB7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7C6BF9-2816-D550-FA34-F54885AEC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A1D73-CC8C-0B42-9131-AD77E0C8E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3183B-48A7-D694-F45F-B0477C5F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CBC56-B328-CBD5-2646-A4C9CC23A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F41A2-3578-2FFA-8756-9F7692A2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24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D36D-3A0C-36A3-3F70-5B6ECC5C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ABC91-C38C-B496-A244-8CD24796E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03E67-17CB-A458-3481-D4FEE663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C17C2-D694-3AF4-1C0E-1DF5F5B0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EEF12-E6ED-BC3B-4427-1BEFA1532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73380-CC72-750E-EA03-87DF69A6C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058B-02C1-8BD8-4FE9-156D8EFAC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0E0D1-7B7C-26B6-3791-D52DF0BE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6617F-2885-3643-1FBB-9AB0B0AA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F3BBB-9925-4611-5D4F-21BE5BDC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75EA1-47E2-0D8B-9E9F-B2AAA2C3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F8C27-1372-7E67-826E-36DC26F09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0D58F-AC92-19DE-E675-2F5028323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3E353-DC20-CE44-ABE1-646184DD4ECF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F2661-8DE2-9172-2DC2-C045F7500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8E518-E490-9648-9658-2D2A9CE6F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CA41C-F9F0-5646-8AFA-865B7D450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8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isonhorst.com/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ts.stackexchange.com/" TargetMode="External"/><Relationship Id="rId4" Type="http://schemas.openxmlformats.org/officeDocument/2006/relationships/hyperlink" Target="https://www.washington.edu/research/shared-research-facilities-resources/statistical-consulting-servic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8960-A1B4-0F70-655A-BBC1C0677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 Brief Introduction to Ecological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28CEC-7E5A-A5BA-3755-2E4BDD9952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681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672C-8661-D2F6-4678-95E7E72A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R?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8A35B-6168-04CB-BF85-28681D968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is a Statistical Programming Language</a:t>
            </a:r>
          </a:p>
          <a:p>
            <a:r>
              <a:rPr lang="en-US" dirty="0"/>
              <a:t>R Studio is an Integrated Development Environment </a:t>
            </a:r>
          </a:p>
          <a:p>
            <a:pPr lvl="1"/>
            <a:r>
              <a:rPr lang="en-US" dirty="0"/>
              <a:t>Think Word vs. Notepad but for code!</a:t>
            </a:r>
          </a:p>
          <a:p>
            <a:pPr lvl="1"/>
            <a:r>
              <a:rPr lang="en-US" dirty="0"/>
              <a:t>Makes it easy to load, manipulate, and visualize data</a:t>
            </a:r>
          </a:p>
        </p:txBody>
      </p:sp>
    </p:spTree>
    <p:extLst>
      <p:ext uri="{BB962C8B-B14F-4D97-AF65-F5344CB8AC3E}">
        <p14:creationId xmlns:p14="http://schemas.microsoft.com/office/powerpoint/2010/main" val="185143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B926-5BB2-2D27-A78C-719F6591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A516E-14E1-51DE-6B38-8B03558A6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Organize, analyze, and visualize data all in the same place</a:t>
            </a:r>
          </a:p>
          <a:p>
            <a:r>
              <a:rPr lang="en-US" dirty="0"/>
              <a:t>Allows for replicable and open science</a:t>
            </a:r>
          </a:p>
          <a:p>
            <a:r>
              <a:rPr lang="en-US" dirty="0"/>
              <a:t>Easy collaboration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670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CA2C6-2F17-DFD8-DF28-9CDD5DA0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Getting Started…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D8FE1DC-9DE6-4E4F-9DE1-C7BC138A3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867" y="1328738"/>
            <a:ext cx="9105911" cy="52879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E4938-30F4-2F76-14EA-1930D34FE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6075" y="4427852"/>
            <a:ext cx="3894220" cy="1643527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28600" lvl="1" indent="0">
              <a:buNone/>
            </a:pPr>
            <a:r>
              <a:rPr lang="en-US" sz="2800" b="1" dirty="0"/>
              <a:t>4. bottom-right: tree of folders, graph window, packages, help window, viewer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445E9-A96F-A7A1-4E36-532BE6826712}"/>
              </a:ext>
            </a:extLst>
          </p:cNvPr>
          <p:cNvSpPr txBox="1"/>
          <p:nvPr/>
        </p:nvSpPr>
        <p:spPr>
          <a:xfrm>
            <a:off x="1891345" y="3033729"/>
            <a:ext cx="320929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1. scripts and 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A2B4D-395D-220A-F68F-928C0FBA3804}"/>
              </a:ext>
            </a:extLst>
          </p:cNvPr>
          <p:cNvSpPr txBox="1"/>
          <p:nvPr/>
        </p:nvSpPr>
        <p:spPr>
          <a:xfrm>
            <a:off x="1891345" y="4899990"/>
            <a:ext cx="258064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2400" dirty="0"/>
              <a:t>2. R console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90E69-7032-5631-10AD-D5F3FD8E5E98}"/>
              </a:ext>
            </a:extLst>
          </p:cNvPr>
          <p:cNvSpPr txBox="1"/>
          <p:nvPr/>
        </p:nvSpPr>
        <p:spPr>
          <a:xfrm>
            <a:off x="6526075" y="2130024"/>
            <a:ext cx="3054517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sz="2800" dirty="0"/>
              <a:t>3. objects, history, environment</a:t>
            </a:r>
          </a:p>
        </p:txBody>
      </p:sp>
    </p:spTree>
    <p:extLst>
      <p:ext uri="{BB962C8B-B14F-4D97-AF65-F5344CB8AC3E}">
        <p14:creationId xmlns:p14="http://schemas.microsoft.com/office/powerpoint/2010/main" val="148979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20FD1-9F3F-6222-FF0B-CE929611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Getting Started…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981A-7CC7-A6DA-5C9F-14C480A04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In our case, the data </a:t>
            </a:r>
          </a:p>
          <a:p>
            <a:pPr lvl="1"/>
            <a:r>
              <a:rPr lang="en-US" dirty="0"/>
              <a:t>Outputs of our analysis</a:t>
            </a:r>
          </a:p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Everything we do in R</a:t>
            </a:r>
          </a:p>
          <a:p>
            <a:pPr lvl="1"/>
            <a:r>
              <a:rPr lang="en-US" dirty="0"/>
              <a:t>Provide ways to clean, manipulate or edit our data</a:t>
            </a:r>
          </a:p>
          <a:p>
            <a:pPr lvl="1"/>
            <a:r>
              <a:rPr lang="en-US" dirty="0"/>
              <a:t>Also tools to run statistical tests or visualize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090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0FE4-14CA-1AC1-5FDD-E0D13EC3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Organizing your project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10831A5-3A73-1335-2826-91F02C6F1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9600"/>
            <a:ext cx="5905500" cy="3098800"/>
          </a:xfrm>
        </p:spPr>
      </p:pic>
    </p:spTree>
    <p:extLst>
      <p:ext uri="{BB962C8B-B14F-4D97-AF65-F5344CB8AC3E}">
        <p14:creationId xmlns:p14="http://schemas.microsoft.com/office/powerpoint/2010/main" val="3219491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424C-1F1E-FD69-435F-AABE4635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FA9EF-D245-3083-49E4-EE0E735B7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Bundles of code written by experts (mostly) that make our life easier</a:t>
            </a:r>
          </a:p>
          <a:p>
            <a:r>
              <a:rPr lang="en-US" dirty="0"/>
              <a:t>Each package provides tools for something</a:t>
            </a:r>
          </a:p>
          <a:p>
            <a:pPr lvl="1"/>
            <a:r>
              <a:rPr lang="en-US" dirty="0" err="1"/>
              <a:t>dplyr</a:t>
            </a:r>
            <a:r>
              <a:rPr lang="en-US" dirty="0"/>
              <a:t> – data manipulation, quality control</a:t>
            </a:r>
          </a:p>
          <a:p>
            <a:pPr lvl="1"/>
            <a:r>
              <a:rPr lang="en-US" dirty="0" err="1"/>
              <a:t>ggplot</a:t>
            </a:r>
            <a:r>
              <a:rPr lang="en-US" dirty="0"/>
              <a:t> – data visualization</a:t>
            </a:r>
          </a:p>
          <a:p>
            <a:pPr lvl="1"/>
            <a:r>
              <a:rPr lang="en-US" dirty="0"/>
              <a:t>vegan - community ecology </a:t>
            </a:r>
          </a:p>
          <a:p>
            <a:pPr lvl="1"/>
            <a:r>
              <a:rPr lang="en-US" dirty="0" err="1"/>
              <a:t>Rshiny</a:t>
            </a:r>
            <a:r>
              <a:rPr lang="en-US" dirty="0"/>
              <a:t> – interactive visualizations</a:t>
            </a:r>
          </a:p>
          <a:p>
            <a:pPr lvl="1"/>
            <a:endParaRPr lang="en-US" dirty="0"/>
          </a:p>
          <a:p>
            <a:r>
              <a:rPr lang="en-US" dirty="0"/>
              <a:t>Base R has most of the statistics functions we will need </a:t>
            </a:r>
          </a:p>
        </p:txBody>
      </p:sp>
    </p:spTree>
    <p:extLst>
      <p:ext uri="{BB962C8B-B14F-4D97-AF65-F5344CB8AC3E}">
        <p14:creationId xmlns:p14="http://schemas.microsoft.com/office/powerpoint/2010/main" val="120028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81E2-D3C5-B921-4567-5CB3BB66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Very, Very, Very Brief Intro to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F9083-6877-E1C1-56E6-C12BBFD88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416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98A4F5B3-9FBF-2284-D886-7B2A2511AE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0" y="41299"/>
            <a:ext cx="4802552" cy="667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363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8411-E031-4899-7A01-E36D665BE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Analysis of Variance (ANOVA)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1082EE3D-0BC5-1644-1B98-D7353777E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224" y="2471738"/>
            <a:ext cx="7623405" cy="402113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873400-BDA6-9CB7-4D39-C9F916B4B964}"/>
              </a:ext>
            </a:extLst>
          </p:cNvPr>
          <p:cNvSpPr txBox="1"/>
          <p:nvPr/>
        </p:nvSpPr>
        <p:spPr>
          <a:xfrm>
            <a:off x="838200" y="1443038"/>
            <a:ext cx="8591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Calculates the F statistic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 = between group variability / within group variability </a:t>
            </a:r>
          </a:p>
        </p:txBody>
      </p:sp>
    </p:spTree>
    <p:extLst>
      <p:ext uri="{BB962C8B-B14F-4D97-AF65-F5344CB8AC3E}">
        <p14:creationId xmlns:p14="http://schemas.microsoft.com/office/powerpoint/2010/main" val="1809154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B148-BC46-41A0-3689-963588931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ANOVA  - Penguin Flipper Length!</a:t>
            </a:r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A1CA5F6E-1CA9-A15D-087C-03DE50FA2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3024"/>
            <a:ext cx="8238204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301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1089-9756-0B5A-7B5C-987A027F9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ANOVA -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57E67-FD5B-5DAD-5225-E175EBFAE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(flipper length) is normally distributed</a:t>
            </a:r>
          </a:p>
          <a:p>
            <a:r>
              <a:rPr lang="en-US" dirty="0"/>
              <a:t>Variance is approximately equal between groups</a:t>
            </a:r>
          </a:p>
          <a:p>
            <a:r>
              <a:rPr lang="en-US" dirty="0"/>
              <a:t>Observations are independent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60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D876-E239-62FD-A3DC-DD88546A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ANOVA interpretation</a:t>
            </a:r>
          </a:p>
        </p:txBody>
      </p:sp>
      <p:pic>
        <p:nvPicPr>
          <p:cNvPr id="9" name="Content Placeholder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9CACDCB-C6AC-6600-2EED-53A985951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024" y="1690688"/>
            <a:ext cx="6132763" cy="952500"/>
          </a:xfrm>
        </p:spPr>
      </p:pic>
    </p:spTree>
    <p:extLst>
      <p:ext uri="{BB962C8B-B14F-4D97-AF65-F5344CB8AC3E}">
        <p14:creationId xmlns:p14="http://schemas.microsoft.com/office/powerpoint/2010/main" val="67715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E814-8C93-42A7-7691-EB0105B9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Tukey's HSD (honestly significant difference)</a:t>
            </a:r>
          </a:p>
        </p:txBody>
      </p:sp>
      <p:pic>
        <p:nvPicPr>
          <p:cNvPr id="4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260619F5-6301-476C-BA03-8026DA44E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3562"/>
            <a:ext cx="5723747" cy="1438275"/>
          </a:xfrm>
        </p:spPr>
      </p:pic>
    </p:spTree>
    <p:extLst>
      <p:ext uri="{BB962C8B-B14F-4D97-AF65-F5344CB8AC3E}">
        <p14:creationId xmlns:p14="http://schemas.microsoft.com/office/powerpoint/2010/main" val="3920979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62EE-6FE9-F80B-F273-42562BC4D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E4CE5-CC82-2A8A-AC90-2808BB9B63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Fitting a simple linear function to messy data</a:t>
                </a:r>
              </a:p>
              <a:p>
                <a:pPr marL="0" indent="0">
                  <a:buNone/>
                </a:pPr>
                <a:r>
                  <a:rPr lang="en-US" b="0" dirty="0"/>
                  <a:t>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E4CE5-CC82-2A8A-AC90-2808BB9B63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DF9CEF28-6D84-2FB9-941C-D6CBE4E2F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20418"/>
            <a:ext cx="4575176" cy="3391482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172AD6B0-FD4F-4118-514D-0090F2C823F6}"/>
              </a:ext>
            </a:extLst>
          </p:cNvPr>
          <p:cNvSpPr/>
          <p:nvPr/>
        </p:nvSpPr>
        <p:spPr>
          <a:xfrm rot="10800000" flipH="1">
            <a:off x="5495923" y="2920417"/>
            <a:ext cx="457200" cy="10808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84832751-6A35-584D-1626-ECD3323FC90F}"/>
              </a:ext>
            </a:extLst>
          </p:cNvPr>
          <p:cNvSpPr/>
          <p:nvPr/>
        </p:nvSpPr>
        <p:spPr>
          <a:xfrm rot="10800000" flipH="1">
            <a:off x="7507288" y="2944019"/>
            <a:ext cx="457200" cy="10572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0146CF-4F3C-7C16-D983-2945D8E9D5B6}"/>
              </a:ext>
            </a:extLst>
          </p:cNvPr>
          <p:cNvSpPr txBox="1"/>
          <p:nvPr/>
        </p:nvSpPr>
        <p:spPr>
          <a:xfrm>
            <a:off x="4888703" y="4112630"/>
            <a:ext cx="1671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Dependent variable </a:t>
            </a:r>
          </a:p>
          <a:p>
            <a:pPr algn="ctr"/>
            <a:r>
              <a:rPr lang="en-US" dirty="0"/>
              <a:t>(barnacles)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911783-0FDD-3917-9EE8-7A5E5DC7CEDE}"/>
              </a:ext>
            </a:extLst>
          </p:cNvPr>
          <p:cNvSpPr txBox="1"/>
          <p:nvPr/>
        </p:nvSpPr>
        <p:spPr>
          <a:xfrm>
            <a:off x="6900068" y="4132169"/>
            <a:ext cx="1671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Independent variable </a:t>
            </a:r>
          </a:p>
          <a:p>
            <a:pPr algn="ctr"/>
            <a:r>
              <a:rPr lang="en-US" dirty="0"/>
              <a:t>(fucus)</a:t>
            </a:r>
          </a:p>
        </p:txBody>
      </p:sp>
    </p:spTree>
    <p:extLst>
      <p:ext uri="{BB962C8B-B14F-4D97-AF65-F5344CB8AC3E}">
        <p14:creationId xmlns:p14="http://schemas.microsoft.com/office/powerpoint/2010/main" val="4049793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063A-866B-0BFF-8E1D-45EE0F17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56"/>
            <a:ext cx="10515600" cy="1325563"/>
          </a:xfrm>
        </p:spPr>
        <p:txBody>
          <a:bodyPr/>
          <a:lstStyle/>
          <a:p>
            <a:r>
              <a:rPr lang="en-US" b="1" dirty="0"/>
              <a:t>Daily temp on SJI and moped rentals </a:t>
            </a:r>
          </a:p>
        </p:txBody>
      </p:sp>
      <p:pic>
        <p:nvPicPr>
          <p:cNvPr id="5" name="Content Placeholder 4" descr="A dog in a red car&#10;&#10;Description automatically generated with medium confidence">
            <a:extLst>
              <a:ext uri="{FF2B5EF4-FFF2-40B4-BE49-F238E27FC236}">
                <a16:creationId xmlns:a16="http://schemas.microsoft.com/office/drawing/2014/main" id="{BCF1B2FE-FC24-9ACE-7D38-A9CE28C59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437" y="2353469"/>
            <a:ext cx="4594074" cy="3442493"/>
          </a:xfrm>
        </p:spPr>
      </p:pic>
      <p:pic>
        <p:nvPicPr>
          <p:cNvPr id="7" name="Picture 6" descr="A picture containing transport, wheel&#10;&#10;Description automatically generated">
            <a:extLst>
              <a:ext uri="{FF2B5EF4-FFF2-40B4-BE49-F238E27FC236}">
                <a16:creationId xmlns:a16="http://schemas.microsoft.com/office/drawing/2014/main" id="{4BD56292-76F2-1E07-FE0B-13CC91B5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1238"/>
            <a:ext cx="3228975" cy="30444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0C0CC6-03C3-BD78-3669-6953A1C31B28}"/>
              </a:ext>
            </a:extLst>
          </p:cNvPr>
          <p:cNvSpPr txBox="1"/>
          <p:nvPr/>
        </p:nvSpPr>
        <p:spPr>
          <a:xfrm>
            <a:off x="6386513" y="1494019"/>
            <a:ext cx="52292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Null hypothesis: </a:t>
            </a:r>
            <a:r>
              <a:rPr lang="en-US" sz="2400" dirty="0"/>
              <a:t>There is no correlation between temperature and moped rentals (slope is zero)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Alternate hypothesis: </a:t>
            </a:r>
            <a:r>
              <a:rPr lang="en-US" sz="2400" dirty="0"/>
              <a:t>There is a correlation between temperature and moped rentals (slope is non-zero)</a:t>
            </a:r>
          </a:p>
        </p:txBody>
      </p:sp>
    </p:spTree>
    <p:extLst>
      <p:ext uri="{BB962C8B-B14F-4D97-AF65-F5344CB8AC3E}">
        <p14:creationId xmlns:p14="http://schemas.microsoft.com/office/powerpoint/2010/main" val="302795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39AD-B468-31F6-5068-4F9C0CE37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 – interpretation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9AB2B-D58F-D854-63BD-96E571129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</a:t>
            </a:r>
            <a:r>
              <a:rPr lang="en-US" b="1" baseline="30000" dirty="0"/>
              <a:t>2</a:t>
            </a:r>
            <a:r>
              <a:rPr lang="en-US" baseline="30000" dirty="0"/>
              <a:t>  </a:t>
            </a:r>
            <a:r>
              <a:rPr lang="en-US" dirty="0"/>
              <a:t>= The amount of variation in the dependent variable (barnacles) that can be explained by the independent variable (fucus) </a:t>
            </a:r>
          </a:p>
          <a:p>
            <a:r>
              <a:rPr lang="en-US" b="1" dirty="0"/>
              <a:t>P value </a:t>
            </a:r>
            <a:r>
              <a:rPr lang="en-US" dirty="0"/>
              <a:t>= the probability of obtaining the observed results if the null hypothesis were true 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58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FBD8-FD1D-1434-425A-C8C333BA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Content Placeholder 8" descr="Chart, scatter chart&#10;&#10;Description automatically generated">
            <a:extLst>
              <a:ext uri="{FF2B5EF4-FFF2-40B4-BE49-F238E27FC236}">
                <a16:creationId xmlns:a16="http://schemas.microsoft.com/office/drawing/2014/main" id="{69ACDD89-395B-73D9-116F-0F2179C05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880" y="69309"/>
            <a:ext cx="11806239" cy="3359691"/>
          </a:xfrm>
        </p:spPr>
      </p:pic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BF3F9828-327F-8742-2550-39FB18A22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71" y="3393609"/>
            <a:ext cx="3299337" cy="3359691"/>
          </a:xfrm>
          <a:prstGeom prst="rect">
            <a:avLst/>
          </a:prstGeom>
        </p:spPr>
      </p:pic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286AB565-4CF3-8C43-5447-152A5756A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330" y="3429000"/>
            <a:ext cx="3299338" cy="3381309"/>
          </a:xfrm>
          <a:prstGeom prst="rect">
            <a:avLst/>
          </a:prstGeom>
        </p:spPr>
      </p:pic>
      <p:pic>
        <p:nvPicPr>
          <p:cNvPr id="15" name="Picture 14" descr="Table&#10;&#10;Description automatically generated">
            <a:extLst>
              <a:ext uri="{FF2B5EF4-FFF2-40B4-BE49-F238E27FC236}">
                <a16:creationId xmlns:a16="http://schemas.microsoft.com/office/drawing/2014/main" id="{F05B71F2-2600-F52E-4B80-20B04F471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037" y="3393608"/>
            <a:ext cx="3423082" cy="3359691"/>
          </a:xfrm>
          <a:prstGeom prst="rect">
            <a:avLst/>
          </a:prstGeom>
        </p:spPr>
      </p:pic>
      <p:pic>
        <p:nvPicPr>
          <p:cNvPr id="16" name="Picture 15" descr="A picture containing transport, wheel&#10;&#10;Description automatically generated">
            <a:extLst>
              <a:ext uri="{FF2B5EF4-FFF2-40B4-BE49-F238E27FC236}">
                <a16:creationId xmlns:a16="http://schemas.microsoft.com/office/drawing/2014/main" id="{01BFBD6B-26B8-5299-E662-96042ACC8B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7338" y="2957512"/>
            <a:ext cx="681114" cy="642193"/>
          </a:xfrm>
          <a:prstGeom prst="rect">
            <a:avLst/>
          </a:prstGeom>
        </p:spPr>
      </p:pic>
      <p:pic>
        <p:nvPicPr>
          <p:cNvPr id="17" name="Picture 16" descr="A picture containing transport, wheel&#10;&#10;Description automatically generated">
            <a:extLst>
              <a:ext uri="{FF2B5EF4-FFF2-40B4-BE49-F238E27FC236}">
                <a16:creationId xmlns:a16="http://schemas.microsoft.com/office/drawing/2014/main" id="{46D48B80-2878-7842-7577-3373FFE27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885" y="2957511"/>
            <a:ext cx="681114" cy="642193"/>
          </a:xfrm>
          <a:prstGeom prst="rect">
            <a:avLst/>
          </a:prstGeom>
        </p:spPr>
      </p:pic>
      <p:pic>
        <p:nvPicPr>
          <p:cNvPr id="18" name="Picture 17" descr="A picture containing transport, wheel&#10;&#10;Description automatically generated">
            <a:extLst>
              <a:ext uri="{FF2B5EF4-FFF2-40B4-BE49-F238E27FC236}">
                <a16:creationId xmlns:a16="http://schemas.microsoft.com/office/drawing/2014/main" id="{A9E0DC36-C079-0ADB-B1EE-7F69514BC7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046" y="2957511"/>
            <a:ext cx="681114" cy="642193"/>
          </a:xfrm>
          <a:prstGeom prst="rect">
            <a:avLst/>
          </a:prstGeom>
        </p:spPr>
      </p:pic>
      <p:pic>
        <p:nvPicPr>
          <p:cNvPr id="19" name="Content Placeholder 4" descr="A dog in a red car&#10;&#10;Description automatically generated with medium confidence">
            <a:extLst>
              <a:ext uri="{FF2B5EF4-FFF2-40B4-BE49-F238E27FC236}">
                <a16:creationId xmlns:a16="http://schemas.microsoft.com/office/drawing/2014/main" id="{1FE32388-71F9-1108-A3BA-4657F44827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12" y="453654"/>
            <a:ext cx="851656" cy="638174"/>
          </a:xfrm>
          <a:prstGeom prst="rect">
            <a:avLst/>
          </a:prstGeom>
        </p:spPr>
      </p:pic>
      <p:pic>
        <p:nvPicPr>
          <p:cNvPr id="21" name="Content Placeholder 4" descr="A dog in a red car&#10;&#10;Description automatically generated with medium confidence">
            <a:extLst>
              <a:ext uri="{FF2B5EF4-FFF2-40B4-BE49-F238E27FC236}">
                <a16:creationId xmlns:a16="http://schemas.microsoft.com/office/drawing/2014/main" id="{8F00416A-40E4-EB54-A679-7913F7AF5A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1175" y="453654"/>
            <a:ext cx="851656" cy="638174"/>
          </a:xfrm>
          <a:prstGeom prst="rect">
            <a:avLst/>
          </a:prstGeom>
        </p:spPr>
      </p:pic>
      <p:pic>
        <p:nvPicPr>
          <p:cNvPr id="22" name="Content Placeholder 4" descr="A dog in a red car&#10;&#10;Description automatically generated with medium confidence">
            <a:extLst>
              <a:ext uri="{FF2B5EF4-FFF2-40B4-BE49-F238E27FC236}">
                <a16:creationId xmlns:a16="http://schemas.microsoft.com/office/drawing/2014/main" id="{E996DA0C-AE9A-F408-3CC6-655A9A598C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0209" y="400288"/>
            <a:ext cx="851656" cy="6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67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BC49B-02C8-3E17-905F-E42A3B36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 – assumptions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5B444-FABD-7C28-0BC6-1D806BE28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Linearity</a:t>
            </a:r>
            <a:r>
              <a:rPr lang="en-US" dirty="0"/>
              <a:t> – relationship between x and y is linear</a:t>
            </a:r>
          </a:p>
          <a:p>
            <a:r>
              <a:rPr lang="en-US" b="1" dirty="0"/>
              <a:t>Homoscedasticity</a:t>
            </a:r>
            <a:r>
              <a:rPr lang="en-US" dirty="0"/>
              <a:t> – variance in y is consistent for all values of x</a:t>
            </a:r>
          </a:p>
          <a:p>
            <a:r>
              <a:rPr lang="en-US" b="1" dirty="0"/>
              <a:t>Independence</a:t>
            </a:r>
            <a:r>
              <a:rPr lang="en-US" dirty="0"/>
              <a:t> – observations are independent </a:t>
            </a:r>
          </a:p>
          <a:p>
            <a:r>
              <a:rPr lang="en-US" b="1" dirty="0"/>
              <a:t>Normality</a:t>
            </a:r>
            <a:r>
              <a:rPr lang="en-US" dirty="0"/>
              <a:t> – for any fixed value of x, y is normally distributed </a:t>
            </a:r>
          </a:p>
        </p:txBody>
      </p:sp>
    </p:spTree>
    <p:extLst>
      <p:ext uri="{BB962C8B-B14F-4D97-AF65-F5344CB8AC3E}">
        <p14:creationId xmlns:p14="http://schemas.microsoft.com/office/powerpoint/2010/main" val="2383182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6B966-7369-5CB7-1209-D50DCA3D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Always, always, always plot raw data</a:t>
            </a:r>
          </a:p>
        </p:txBody>
      </p:sp>
      <p:pic>
        <p:nvPicPr>
          <p:cNvPr id="5" name="Content Placeholder 4" descr="A picture containing line chart&#10;&#10;Description automatically generated">
            <a:extLst>
              <a:ext uri="{FF2B5EF4-FFF2-40B4-BE49-F238E27FC236}">
                <a16:creationId xmlns:a16="http://schemas.microsoft.com/office/drawing/2014/main" id="{AD54EBF7-6C1A-40EF-38CC-0B4EDD497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673" y="1396206"/>
            <a:ext cx="5854527" cy="4351338"/>
          </a:xfrm>
        </p:spPr>
      </p:pic>
      <p:pic>
        <p:nvPicPr>
          <p:cNvPr id="8" name="Picture 7" descr="A picture containing transport, wheel&#10;&#10;Description automatically generated">
            <a:extLst>
              <a:ext uri="{FF2B5EF4-FFF2-40B4-BE49-F238E27FC236}">
                <a16:creationId xmlns:a16="http://schemas.microsoft.com/office/drawing/2014/main" id="{97CE4A45-E151-C117-F73B-3E7E95BEB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49" y="5086349"/>
            <a:ext cx="1157287" cy="1091156"/>
          </a:xfrm>
          <a:prstGeom prst="rect">
            <a:avLst/>
          </a:prstGeom>
        </p:spPr>
      </p:pic>
      <p:pic>
        <p:nvPicPr>
          <p:cNvPr id="10" name="Content Placeholder 4" descr="A dog in a red car&#10;&#10;Description automatically generated with medium confidence">
            <a:extLst>
              <a:ext uri="{FF2B5EF4-FFF2-40B4-BE49-F238E27FC236}">
                <a16:creationId xmlns:a16="http://schemas.microsoft.com/office/drawing/2014/main" id="{467C2B6D-4B39-D346-7CA8-6EAB2D67F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45" y="2402682"/>
            <a:ext cx="851656" cy="6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8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37CE-A481-55B0-4214-A03F3216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Look beyond the P value! </a:t>
            </a:r>
          </a:p>
        </p:txBody>
      </p:sp>
      <p:pic>
        <p:nvPicPr>
          <p:cNvPr id="5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8CC41034-23C2-C5EA-ED89-AB8395AB51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462" y="1576387"/>
            <a:ext cx="6029670" cy="4481512"/>
          </a:xfr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14C701DD-2FD8-4605-F678-4D2D2973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132" y="1654968"/>
            <a:ext cx="4152900" cy="42418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1AA55D6-ACC4-BDE3-3857-1918531BBACC}"/>
              </a:ext>
            </a:extLst>
          </p:cNvPr>
          <p:cNvSpPr/>
          <p:nvPr/>
        </p:nvSpPr>
        <p:spPr>
          <a:xfrm>
            <a:off x="8958263" y="2371725"/>
            <a:ext cx="1071562" cy="5000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C87484C-A6D0-3C11-4529-49A9B7566D22}"/>
              </a:ext>
            </a:extLst>
          </p:cNvPr>
          <p:cNvSpPr/>
          <p:nvPr/>
        </p:nvSpPr>
        <p:spPr>
          <a:xfrm>
            <a:off x="8958263" y="3995738"/>
            <a:ext cx="1071562" cy="5000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transport, wheel&#10;&#10;Description automatically generated">
            <a:extLst>
              <a:ext uri="{FF2B5EF4-FFF2-40B4-BE49-F238E27FC236}">
                <a16:creationId xmlns:a16="http://schemas.microsoft.com/office/drawing/2014/main" id="{25C0FB0D-70F3-8144-47AD-5C9A8D7B9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010" y="5512321"/>
            <a:ext cx="1157287" cy="1091156"/>
          </a:xfrm>
          <a:prstGeom prst="rect">
            <a:avLst/>
          </a:prstGeom>
        </p:spPr>
      </p:pic>
      <p:pic>
        <p:nvPicPr>
          <p:cNvPr id="12" name="Content Placeholder 4" descr="A dog in a red car&#10;&#10;Description automatically generated with medium confidence">
            <a:extLst>
              <a:ext uri="{FF2B5EF4-FFF2-40B4-BE49-F238E27FC236}">
                <a16:creationId xmlns:a16="http://schemas.microsoft.com/office/drawing/2014/main" id="{19616080-11E2-6882-091A-2B4C2F998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34" y="2644243"/>
            <a:ext cx="851656" cy="6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90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arine Food Chain - KidsPressMagazine.com">
            <a:extLst>
              <a:ext uri="{FF2B5EF4-FFF2-40B4-BE49-F238E27FC236}">
                <a16:creationId xmlns:a16="http://schemas.microsoft.com/office/drawing/2014/main" id="{C49535A6-E881-5A84-905A-B73E6EBD6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734" y="182562"/>
            <a:ext cx="4925266" cy="649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F8B82D-F431-CB72-557B-24B624C7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D4292-B783-FAB1-218A-DF0C27F52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https://www.allisonhorst.com/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https://www.washington.edu/research/shared-research-facilities-resources/statistical-consulting-services/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5"/>
              </a:rPr>
              <a:t>https://stats.stackexchange.com/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7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2970</TotalTime>
  <Words>462</Words>
  <Application>Microsoft Macintosh PowerPoint</Application>
  <PresentationFormat>Widescreen</PresentationFormat>
  <Paragraphs>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A Brief Introduction to Ecological Data Analysis</vt:lpstr>
      <vt:lpstr>What is R? </vt:lpstr>
      <vt:lpstr>Why use R?</vt:lpstr>
      <vt:lpstr>Getting Started…</vt:lpstr>
      <vt:lpstr>Getting Started…</vt:lpstr>
      <vt:lpstr>Organizing your project</vt:lpstr>
      <vt:lpstr>Packages</vt:lpstr>
      <vt:lpstr>A Very, Very, Very Brief Intro to Statistics</vt:lpstr>
      <vt:lpstr>PowerPoint Presentation</vt:lpstr>
      <vt:lpstr>Analysis of Variance (ANOVA)</vt:lpstr>
      <vt:lpstr>ANOVA  - Penguin Flipper Length!</vt:lpstr>
      <vt:lpstr>ANOVA - assumptions</vt:lpstr>
      <vt:lpstr>ANOVA interpretation</vt:lpstr>
      <vt:lpstr>Tukey's HSD (honestly significant difference)</vt:lpstr>
      <vt:lpstr>Linear Regression </vt:lpstr>
      <vt:lpstr>Daily temp on SJI and moped rentals </vt:lpstr>
      <vt:lpstr>Linear Regression – interpretation </vt:lpstr>
      <vt:lpstr>PowerPoint Presentation</vt:lpstr>
      <vt:lpstr>Linear Regression – assumptions </vt:lpstr>
      <vt:lpstr>Always, always, always plot raw data</vt:lpstr>
      <vt:lpstr>Look beyond the P value! </vt:lpstr>
      <vt:lpstr>More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Brief Introduction to Ecological Data Analysis</dc:title>
  <dc:creator>Disha Patel</dc:creator>
  <cp:lastModifiedBy>Disha Patel</cp:lastModifiedBy>
  <cp:revision>7</cp:revision>
  <dcterms:created xsi:type="dcterms:W3CDTF">2022-04-24T21:11:14Z</dcterms:created>
  <dcterms:modified xsi:type="dcterms:W3CDTF">2022-04-26T22:41:46Z</dcterms:modified>
</cp:coreProperties>
</file>